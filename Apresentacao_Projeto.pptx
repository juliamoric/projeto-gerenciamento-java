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731520"/>
            <a:ext cx="146304" cy="5303520"/>
          </a:xfrm>
          <a:prstGeom prst="rect">
            <a:avLst/>
          </a:prstGeom>
          <a:solidFill>
            <a:srgbClr val="644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371600"/>
            <a:ext cx="98755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2A233B"/>
                </a:solidFill>
              </a:defRPr>
            </a:pPr>
            <a:r>
              <a:t>Protótipo de Sistema</a:t>
            </a:r>
          </a:p>
          <a:p>
            <a:pPr>
              <a:defRPr sz="2600">
                <a:solidFill>
                  <a:srgbClr val="6444BE"/>
                </a:solidFill>
              </a:defRPr>
            </a:pPr>
            <a:r>
              <a:t>API REST e aplicação 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42976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645F73"/>
                </a:solidFill>
              </a:defRPr>
            </a:pPr>
            <a:r>
              <a:t>Java 17 • Spring Boot • H2 • Thymeleaf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644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A233B"/>
                </a:solidFill>
              </a:defRPr>
            </a:pPr>
            <a:r>
              <a:t>Objetivo do projeto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5F73"/>
                </a:solidFill>
              </a:defRPr>
            </a:pPr>
            <a:r>
              <a:t>Separar os recursos de dados da interface utilizada pelo usuário.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2A233B"/>
                </a:solidFill>
              </a:defRPr>
            </a:pPr>
            <a:r>
              <a:t>•  Construir uma API REST para gerenciamento de veículos e serviços.</a:t>
            </a:r>
          </a:p>
          <a:p>
            <a:pPr>
              <a:spcAft>
                <a:spcPts val="1800"/>
              </a:spcAft>
              <a:defRPr sz="2100">
                <a:solidFill>
                  <a:srgbClr val="2A233B"/>
                </a:solidFill>
              </a:defRPr>
            </a:pPr>
            <a:r>
              <a:t>•  Construir uma aplicação Web para funcionários e contas do mês.</a:t>
            </a:r>
          </a:p>
          <a:p>
            <a:pPr>
              <a:spcAft>
                <a:spcPts val="1800"/>
              </a:spcAft>
              <a:defRPr sz="2100">
                <a:solidFill>
                  <a:srgbClr val="2A233B"/>
                </a:solidFill>
              </a:defRPr>
            </a:pPr>
            <a:r>
              <a:t>•  Usar H2 como banco de dados leve para demonstração local.</a:t>
            </a:r>
          </a:p>
          <a:p>
            <a:pPr>
              <a:spcAft>
                <a:spcPts val="1800"/>
              </a:spcAft>
              <a:defRPr sz="2100">
                <a:solidFill>
                  <a:srgbClr val="2A233B"/>
                </a:solidFill>
              </a:defRPr>
            </a:pPr>
            <a:r>
              <a:t>•  Demonstrar operações de cadastro, consulta e exclusão.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644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A233B"/>
                </a:solidFill>
              </a:defRPr>
            </a:pPr>
            <a:r>
              <a:t>Arquitetura da solução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5F73"/>
                </a:solidFill>
              </a:defRPr>
            </a:pPr>
            <a:r>
              <a:t>Dois projetos Spring Boot independentes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2A233B"/>
                </a:solidFill>
              </a:defRPr>
            </a:pPr>
            <a:r>
              <a:t>•  Projeto API — Spring Web recebe requisições HTTP e retorna JSON.</a:t>
            </a:r>
          </a:p>
          <a:p>
            <a:pPr>
              <a:spcAft>
                <a:spcPts val="1800"/>
              </a:spcAft>
              <a:defRPr sz="2100">
                <a:solidFill>
                  <a:srgbClr val="2A233B"/>
                </a:solidFill>
              </a:defRPr>
            </a:pPr>
            <a:r>
              <a:t>•  Projeto Web — Thymeleaf renderiza páginas HTML no servidor.</a:t>
            </a:r>
          </a:p>
          <a:p>
            <a:pPr>
              <a:spcAft>
                <a:spcPts val="1800"/>
              </a:spcAft>
              <a:defRPr sz="2100">
                <a:solidFill>
                  <a:srgbClr val="2A233B"/>
                </a:solidFill>
              </a:defRPr>
            </a:pPr>
            <a:r>
              <a:t>•  Spring Data JPA faz a persistência e o acesso às entidades.</a:t>
            </a:r>
          </a:p>
          <a:p>
            <a:pPr>
              <a:spcAft>
                <a:spcPts val="1800"/>
              </a:spcAft>
              <a:defRPr sz="2100">
                <a:solidFill>
                  <a:srgbClr val="2A233B"/>
                </a:solidFill>
              </a:defRPr>
            </a:pPr>
            <a:r>
              <a:t>•  H2 armazena os dados em memória durante a execução.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644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A233B"/>
                </a:solidFill>
              </a:defRPr>
            </a:pPr>
            <a:r>
              <a:t>Projeto API: entidades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5F73"/>
                </a:solidFill>
              </a:defRPr>
            </a:pPr>
            <a:r>
              <a:t>Baseado no protótipo fornecido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2A233B"/>
                </a:solidFill>
              </a:defRPr>
            </a:pPr>
            <a:r>
              <a:t>•  Veículos: placa, modelo, marca, ano do modelo, ano de fabricação, cor e preço.</a:t>
            </a:r>
          </a:p>
          <a:p>
            <a:pPr>
              <a:spcAft>
                <a:spcPts val="1800"/>
              </a:spcAft>
              <a:defRPr sz="2100">
                <a:solidFill>
                  <a:srgbClr val="2A233B"/>
                </a:solidFill>
              </a:defRPr>
            </a:pPr>
            <a:r>
              <a:t>•  Serviços: identificador, descrição e data de cadastro.</a:t>
            </a:r>
          </a:p>
          <a:p>
            <a:pPr>
              <a:spcAft>
                <a:spcPts val="1800"/>
              </a:spcAft>
              <a:defRPr sz="2100">
                <a:solidFill>
                  <a:srgbClr val="2A233B"/>
                </a:solidFill>
              </a:defRPr>
            </a:pPr>
            <a:r>
              <a:t>•  Endpoints REST permitem listar, consultar, criar, atualizar e excluir registros.</a:t>
            </a:r>
          </a:p>
          <a:p>
            <a:pPr>
              <a:spcAft>
                <a:spcPts val="1800"/>
              </a:spcAft>
              <a:defRPr sz="2100">
                <a:solidFill>
                  <a:srgbClr val="2A233B"/>
                </a:solidFill>
              </a:defRPr>
            </a:pPr>
            <a:r>
              <a:t>•  Swagger UI facilita testar os endpoints pelo navegador.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644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A233B"/>
                </a:solidFill>
              </a:defRPr>
            </a:pPr>
            <a:r>
              <a:t>Projeto Web: entidades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5F73"/>
                </a:solidFill>
              </a:defRPr>
            </a:pPr>
            <a:r>
              <a:t>Interface de gestão simples e responsiva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2A233B"/>
                </a:solidFill>
              </a:defRPr>
            </a:pPr>
            <a:r>
              <a:t>•  Funcionário: CPF, nome e salário.</a:t>
            </a:r>
          </a:p>
          <a:p>
            <a:pPr>
              <a:spcAft>
                <a:spcPts val="1800"/>
              </a:spcAft>
              <a:defRPr sz="2100">
                <a:solidFill>
                  <a:srgbClr val="2A233B"/>
                </a:solidFill>
              </a:defRPr>
            </a:pPr>
            <a:r>
              <a:t>•  Contas do mês: identificador, descrição, valor e data de cadastro.</a:t>
            </a:r>
          </a:p>
          <a:p>
            <a:pPr>
              <a:spcAft>
                <a:spcPts val="1800"/>
              </a:spcAft>
              <a:defRPr sz="2100">
                <a:solidFill>
                  <a:srgbClr val="2A233B"/>
                </a:solidFill>
              </a:defRPr>
            </a:pPr>
            <a:r>
              <a:t>•  Formulários permitem cadastrar registros; tabelas exibem os dados existentes.</a:t>
            </a:r>
          </a:p>
          <a:p>
            <a:pPr>
              <a:spcAft>
                <a:spcPts val="1800"/>
              </a:spcAft>
              <a:defRPr sz="2100">
                <a:solidFill>
                  <a:srgbClr val="2A233B"/>
                </a:solidFill>
              </a:defRPr>
            </a:pPr>
            <a:r>
              <a:t>•  A interface permite excluir registros e exibe o total das contas cadastradas.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644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A233B"/>
                </a:solidFill>
              </a:defRPr>
            </a:pPr>
            <a:r>
              <a:t>Tecnologias utilizadas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2A233B"/>
                </a:solidFill>
              </a:defRPr>
            </a:pPr>
            <a:r>
              <a:t>•  Java 17 e Maven para desenvolvimento e gerenciamento de dependências.</a:t>
            </a:r>
          </a:p>
          <a:p>
            <a:pPr>
              <a:spcAft>
                <a:spcPts val="1800"/>
              </a:spcAft>
              <a:defRPr sz="2100">
                <a:solidFill>
                  <a:srgbClr val="2A233B"/>
                </a:solidFill>
              </a:defRPr>
            </a:pPr>
            <a:r>
              <a:t>•  Spring Boot e Spring Web para estruturar as aplicações.</a:t>
            </a:r>
          </a:p>
          <a:p>
            <a:pPr>
              <a:spcAft>
                <a:spcPts val="1800"/>
              </a:spcAft>
              <a:defRPr sz="2100">
                <a:solidFill>
                  <a:srgbClr val="2A233B"/>
                </a:solidFill>
              </a:defRPr>
            </a:pPr>
            <a:r>
              <a:t>•  Spring Data JPA e Hibernate para mapeamento objeto-relacional.</a:t>
            </a:r>
          </a:p>
          <a:p>
            <a:pPr>
              <a:spcAft>
                <a:spcPts val="1800"/>
              </a:spcAft>
              <a:defRPr sz="2100">
                <a:solidFill>
                  <a:srgbClr val="2A233B"/>
                </a:solidFill>
              </a:defRPr>
            </a:pPr>
            <a:r>
              <a:t>•  H2 Database para armazenamento de dados de demonstração.</a:t>
            </a:r>
          </a:p>
          <a:p>
            <a:pPr>
              <a:spcAft>
                <a:spcPts val="1800"/>
              </a:spcAft>
              <a:defRPr sz="2100">
                <a:solidFill>
                  <a:srgbClr val="2A233B"/>
                </a:solidFill>
              </a:defRPr>
            </a:pPr>
            <a:r>
              <a:t>•  Thymeleaf, HTML e CSS para a interface Web; Swagger para documentar a API.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644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A233B"/>
                </a:solidFill>
              </a:defRPr>
            </a:pPr>
            <a:r>
              <a:t>Como executar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5F73"/>
                </a:solidFill>
              </a:defRPr>
            </a:pPr>
            <a:r>
              <a:t>Pré-requisitos: JDK 17 ou superior e Maven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2A233B"/>
                </a:solidFill>
              </a:defRPr>
            </a:pPr>
            <a:r>
              <a:t>•  Na pasta ProjetoAPI, execute: mvn spring-boot:run — API na porta 8081.</a:t>
            </a:r>
          </a:p>
          <a:p>
            <a:pPr>
              <a:spcAft>
                <a:spcPts val="1800"/>
              </a:spcAft>
              <a:defRPr sz="2100">
                <a:solidFill>
                  <a:srgbClr val="2A233B"/>
                </a:solidFill>
              </a:defRPr>
            </a:pPr>
            <a:r>
              <a:t>•  Swagger: http://localhost:8081/swagger-ui/index.html</a:t>
            </a:r>
          </a:p>
          <a:p>
            <a:pPr>
              <a:spcAft>
                <a:spcPts val="1800"/>
              </a:spcAft>
              <a:defRPr sz="2100">
                <a:solidFill>
                  <a:srgbClr val="2A233B"/>
                </a:solidFill>
              </a:defRPr>
            </a:pPr>
            <a:r>
              <a:t>•  Na pasta ProjetoWeb, execute: mvn spring-boot:run — site na porta 8080.</a:t>
            </a:r>
          </a:p>
          <a:p>
            <a:pPr>
              <a:spcAft>
                <a:spcPts val="1800"/>
              </a:spcAft>
              <a:defRPr sz="2100">
                <a:solidFill>
                  <a:srgbClr val="2A233B"/>
                </a:solidFill>
              </a:defRPr>
            </a:pPr>
            <a:r>
              <a:t>•  Acesse http://localhost:8080 para utilizar a aplicação Web.</a:t>
            </a:r>
          </a:p>
          <a:p>
            <a:pPr>
              <a:spcAft>
                <a:spcPts val="1800"/>
              </a:spcAft>
              <a:defRPr sz="2100">
                <a:solidFill>
                  <a:srgbClr val="2A233B"/>
                </a:solidFill>
              </a:defRPr>
            </a:pPr>
            <a:r>
              <a:t>•  O banco H2 é em memória: os dados são apagados ao encerrar cada aplicação.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644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A233B"/>
                </a:solidFill>
              </a:defRPr>
            </a:pPr>
            <a:r>
              <a:t>Conclusão e melhorias futuras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2A233B"/>
                </a:solidFill>
              </a:defRPr>
            </a:pPr>
            <a:r>
              <a:t>•  O protótipo separa a API de dados da interface Web.</a:t>
            </a:r>
          </a:p>
          <a:p>
            <a:pPr>
              <a:spcAft>
                <a:spcPts val="1800"/>
              </a:spcAft>
              <a:defRPr sz="2100">
                <a:solidFill>
                  <a:srgbClr val="2A233B"/>
                </a:solidFill>
              </a:defRPr>
            </a:pPr>
            <a:r>
              <a:t>•  A estrutura permite testar operações básicas e demonstrar persistência durante a execução.</a:t>
            </a:r>
          </a:p>
          <a:p>
            <a:pPr>
              <a:spcAft>
                <a:spcPts val="1800"/>
              </a:spcAft>
              <a:defRPr sz="2100">
                <a:solidFill>
                  <a:srgbClr val="2A233B"/>
                </a:solidFill>
              </a:defRPr>
            </a:pPr>
            <a:r>
              <a:t>•  Evoluções possíveis: autenticação, edição na interface, regras de validação mais completas e banco persistente.</a:t>
            </a:r>
          </a:p>
          <a:p>
            <a:pPr>
              <a:spcAft>
                <a:spcPts val="1800"/>
              </a:spcAft>
              <a:defRPr sz="2100">
                <a:solidFill>
                  <a:srgbClr val="2A233B"/>
                </a:solidFill>
              </a:defRPr>
            </a:pPr>
            <a:r>
              <a:t>•  A documentação README de cada projeto contém os passos para executar localmente.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